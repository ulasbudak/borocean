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Açılış: Borocean'u tek cümleyle tanıt — iki borsa (BIST + ABD), üç ayrı görüş (kural bazlı skor, AI temel analiz, AI teknik okuma) tek panelde. Bu sunumun kapsamı: ürün, konumlandırma, hedef kitle, iş modeli ve pazarlama/lansman planı.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Dört başlığı hızlı geç: BIST ikinci sınıf, teknik/temel ayrı araçlarda, tüyolar güvenilmez, aracı kurumlar tarafsız değil. Vurgu: hiçbiri bu dördünü birlikte çözmüyor — bu bizim boşluğumuz.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Vizyon cümlesini oku, sonra üç sütunu tek tek anlat: temel analiz (bugün üretimde), teknik analiz (bugün üretimde), AI yorum (yol haritasında, Epic 9). Bu üçü aynı hisse için, aynı panelde birlikte sunuluyor.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Sekiz modülü tek tek okuma — gruplama yeterli: keşif+analiz (arama, temel, teknik), karar destek (tarama, alarm, portföy), kişiselleştirme+lokalizasyon. Hepsi MVP kapsamında bugün üretimde.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Bu, rakiplerin hiçbirinde olmayan asıl farklılaşma noktası. Üç görüşü ayrı ayrı anlat, sonra altındaki uyarıyı vurgula: dil kasıtlı olarak 'tavsiye' değil 'bulgu' — regülasyon riskini azaltan bir konumlandırma kararı (detay: slayt 13).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Tabloyu satır satır değil, örüntü olarak anlat: her rakip bir veya iki kriterde güçlü ama hiçbiri dördünü birlikte sunmuyor. Kapanışta konumlandırma cümlesini net söyle.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 persona da PRD'deki gerçek kullanıcı senaryolarından geliyor (UJ-1, UJ-2). Beachhead kararı: önce Ayşe segmenti (TR pazarı, düşük CAC, yüksek organik paylaşım), Mehmet segmenti ikinci dalga — premium'a daha hızlı geçiyor ama edinmesi daha pahalı/rekabetçi.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Freemium sınırını hızlı geç, asıl mesaj alttaki kutu: şu an her şey ücretsiz — bu bir eksiklik değil, kasıtlı bir büyüme/veri toplama stratejisi. Ödeme altyapısı kurulunca (Story 8.2) paywall devreye girecek.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fazı akış olarak anlat. Kanal şeridi detay değil, genel görünüm için. Alttaki growth-loop kutusu önemli: zaten var olan Sektör Bülteni özelliğini pazarlama kanalına çevirmek — ek mühendislik maliyeti yok.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satırı 10-15 saniyede geç: kanal, mesaj, maliyet mantığı. Ortak tema: hepsi düşük bütçe/solo kurucu gerçeğine uygun, var olan özellikleri (AI görüşleri, sektör bülteni) pazarlama materyaline çeviriyor.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NSM'nin neden bu olduğunu anlat: Borocean bir 'productivity/karar destek' oyunu oynuyor, gelir değil müşteri değeri merkezli metrik seçildi. Karşı-metrikleri atlama — yatırımcılar büyümenin kalite pahasına gelmediğini görmek ister.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 kutu: sol = bugün gerçekten çalışan/canlı olan (güven inşası için somut), sağ = önceliklendirilmiş yol haritası. Epic 9/10'un MVP'nin ÖNÜNE değil, MVP tamamlandıktan SONRA planlandığını vurgula — kapsam disiplini göstergesi.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slaytı atlamayı düşünme — yatırımcı karşısında en olası soru bu. Şeffaf ol: konumlandırma kararı bilinçli verildi (tavsiye değil bulgu dili), ama hukuki teyit henüz alınmadı; bunu açık bir risk/aksiyon maddesi olarak sun, gizleme.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Kapanış: tek cümleye geri dön — 'İki borsa, üç görüş, tek uygulama.' Somut bir sonraki adım öner (beta davet / demo / görüşme), soru 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image" Target="../media/image-8-1.png"/><Relationship Id="rId7" Type="http://schemas.openxmlformats.org/officeDocument/2006/relationships/image" Target="../media/image-8-1.png"/><Relationship Id="rId8" Type="http://schemas.openxmlformats.org/officeDocument/2006/relationships/image" Target="../media/image-8-1.png"/><Relationship Id="rId9" Type="http://schemas.openxmlformats.org/officeDocument/2006/relationships/image" Target="../media/image-8-1.png"/><Relationship Id="rId10" Type="http://schemas.openxmlformats.org/officeDocument/2006/relationships/image" Target="../media/image-8-1.png"/><Relationship Id="rId11" Type="http://schemas.openxmlformats.org/officeDocument/2006/relationships/image" Target="../media/image-8-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B0D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-2286000"/>
            <a:ext cx="6400800" cy="64008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pic>
        <p:nvPicPr>
          <p:cNvPr id="5" name="Image 0" descr="/private/tmp/claude-501/-Users-ulasbudak-Desktop-borsa-app/e78c8e07-ac03-4beb-bcc3-115504839e4a/scratchpad/deck/logo_mark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88720"/>
            <a:ext cx="960120" cy="9601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317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100" kern="0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BOROCEAN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borsa. Üç görüş. Tek uygulama.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86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 (NYSE/NASDAQ) ve Türkiye (BIST) hisselerini dünya standardı temel + teknik analiz metrikleriyle ve AI destekli yorumlarla saniyeler içinde değerlendiren yatırım araştırma uygulaması.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080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&amp; Pazarlama Sunumu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Bireysel yatırımcı, parçalanmış bir araç yığınıyla karar veriyor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66360" cy="1051560"/>
          </a:xfrm>
          <a:prstGeom prst="roundRect">
            <a:avLst>
              <a:gd name="adj" fmla="val 10435"/>
            </a:avLst>
          </a:prstGeom>
          <a:solidFill>
            <a:srgbClr val="121417"/>
          </a:solidFill>
          <a:ln w="12700">
            <a:solidFill>
              <a:srgbClr val="23262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7108"/>
            <a:ext cx="512064" cy="512064"/>
          </a:xfrm>
          <a:prstGeom prst="ellipse">
            <a:avLst/>
          </a:prstGeom>
          <a:solidFill>
            <a:srgbClr val="1E2126"/>
          </a:solidFill>
          <a:ln/>
        </p:spPr>
      </p:sp>
      <p:pic>
        <p:nvPicPr>
          <p:cNvPr id="6" name="Image 0" descr="/private/tmp/claude-501/-Users-ulasbudak-Desktop-borsa-app/e78c8e07-ac03-4beb-bcc3-115504839e4a/scratchpad/deck/icons/globe-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240" y="2073676"/>
            <a:ext cx="378927" cy="37892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8366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BIST ikinci sınıf muamele görüyor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231136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Küresel araçların çoğu ABD odaklı; Türkiye borsası ya hiç yok ya da yüzeysel/gecikmeli.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35040" y="1737360"/>
            <a:ext cx="5166360" cy="1051560"/>
          </a:xfrm>
          <a:prstGeom prst="roundRect">
            <a:avLst>
              <a:gd name="adj" fmla="val 10435"/>
            </a:avLst>
          </a:prstGeom>
          <a:solidFill>
            <a:srgbClr val="121417"/>
          </a:solidFill>
          <a:ln w="12700">
            <a:solidFill>
              <a:srgbClr val="23262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91072" y="2007108"/>
            <a:ext cx="512064" cy="512064"/>
          </a:xfrm>
          <a:prstGeom prst="ellipse">
            <a:avLst/>
          </a:prstGeom>
          <a:solidFill>
            <a:srgbClr val="1E2126"/>
          </a:solidFill>
          <a:ln/>
        </p:spPr>
      </p:sp>
      <p:pic>
        <p:nvPicPr>
          <p:cNvPr id="11" name="Image 1" descr="/private/tmp/claude-501/-Users-ulasbudak-Desktop-borsa-app/e78c8e07-ac03-4beb-bcc3-115504839e4a/scratchpad/deck/icons/layers-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640" y="2073676"/>
            <a:ext cx="378927" cy="37892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95160" y="188366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+ temel analiz ayrı araçlarda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995160" y="2231136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TradingView güçlü grafik sunar ama sektör kıyaslamalı temel analiz ve AI yorum sunmaz.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063240"/>
            <a:ext cx="5166360" cy="1051560"/>
          </a:xfrm>
          <a:prstGeom prst="roundRect">
            <a:avLst>
              <a:gd name="adj" fmla="val 10435"/>
            </a:avLst>
          </a:prstGeom>
          <a:solidFill>
            <a:srgbClr val="121417"/>
          </a:solidFill>
          <a:ln w="12700">
            <a:solidFill>
              <a:srgbClr val="23262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332988"/>
            <a:ext cx="512064" cy="512064"/>
          </a:xfrm>
          <a:prstGeom prst="ellipse">
            <a:avLst/>
          </a:prstGeom>
          <a:solidFill>
            <a:srgbClr val="1E2126"/>
          </a:solidFill>
          <a:ln/>
        </p:spPr>
      </p:sp>
      <p:pic>
        <p:nvPicPr>
          <p:cNvPr id="16" name="Image 2" descr="/private/tmp/claude-501/-Users-ulasbudak-Desktop-borsa-app/e78c8e07-ac03-4beb-bcc3-115504839e4a/scratchpad/deck/icons/message-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40" y="3399556"/>
            <a:ext cx="378927" cy="37892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320954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medya "tüyoları" veri kaynağı göstermez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3557016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Twitter/Telegram önerileri hızlı ama doğrulanamaz; "neden" sorusuna yanıt yok.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35040" y="3063240"/>
            <a:ext cx="5166360" cy="1051560"/>
          </a:xfrm>
          <a:prstGeom prst="roundRect">
            <a:avLst>
              <a:gd name="adj" fmla="val 10435"/>
            </a:avLst>
          </a:prstGeom>
          <a:solidFill>
            <a:srgbClr val="121417"/>
          </a:solidFill>
          <a:ln w="12700">
            <a:solidFill>
              <a:srgbClr val="23262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91072" y="3332988"/>
            <a:ext cx="512064" cy="512064"/>
          </a:xfrm>
          <a:prstGeom prst="ellipse">
            <a:avLst/>
          </a:prstGeom>
          <a:solidFill>
            <a:srgbClr val="1E2126"/>
          </a:solidFill>
          <a:ln/>
        </p:spPr>
      </p:sp>
      <p:pic>
        <p:nvPicPr>
          <p:cNvPr id="21" name="Image 3" descr="/private/tmp/claude-501/-Users-ulasbudak-Desktop-borsa-app/e78c8e07-ac03-4beb-bcc3-115504839e4a/scratchpad/deck/icons/shield-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640" y="3399556"/>
            <a:ext cx="378927" cy="3789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95160" y="320954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Aracı kurum uygulamaları tarafsız değil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6995160" y="3557016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Araştırma katmanı genelde kendi ürün/komisyon çıkarına hizmet edecek şekilde kurgulanır.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989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aynı hisseyi değerlendirmek için birden fazla uygulama, birden fazla dil ve güvenilirliği belirsiz kaynaklar arasında geziniliyor.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Image 4" descr="/private/tmp/claude-501/-Users-ulasbudak-Desktop-borsa-app/e78c8e07-ac03-4beb-bcc3-115504839e4a/scratchpad/deck/logo_mark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37376"/>
            <a:ext cx="173736" cy="17373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86384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BOROCEAN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VIZYON &amp; ÇÖZÜM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Herhangi bir hisseyi, saniyeler içinde, dünya standardında değerlendir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607040" cy="1051560"/>
          </a:xfrm>
          <a:prstGeom prst="roundRect">
            <a:avLst>
              <a:gd name="adj" fmla="val 10435"/>
            </a:avLst>
          </a:prstGeom>
          <a:solidFill>
            <a:srgbClr val="1E2126"/>
          </a:solidFill>
          <a:ln w="12700">
            <a:solidFill>
              <a:srgbClr val="2E323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1051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“Kullanıcının, ABD ve Türkiye borsalarındaki herhangi bir hisseyi, dünya standardı metriklerle saniyeler içinde değerlendirip kendi izleme/portföy akışına dahil edebildiği tek uygulama.”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319272" cy="2331720"/>
          </a:xfrm>
          <a:prstGeom prst="roundRect">
            <a:avLst>
              <a:gd name="adj" fmla="val 4706"/>
            </a:avLst>
          </a:prstGeom>
          <a:solidFill>
            <a:srgbClr val="121417"/>
          </a:solidFill>
          <a:ln w="12700">
            <a:solidFill>
              <a:srgbClr val="23262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88236" y="338328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8" name="Image 0" descr="/private/tmp/claude-501/-Users-ulasbudak-Desktop-borsa-app/e78c8e07-ac03-4beb-bcc3-115504839e4a/scratchpad/deck/icons/char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1446" y="3466490"/>
            <a:ext cx="473659" cy="47365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416052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Analiz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544568"/>
            <a:ext cx="2770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F/K, PD/DD, ROE, temettü verimi ve daha fazlası — sektör ortalamasına göre kıyaslamalı.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187952" y="3063240"/>
            <a:ext cx="3319272" cy="2331720"/>
          </a:xfrm>
          <a:prstGeom prst="roundRect">
            <a:avLst>
              <a:gd name="adj" fmla="val 4706"/>
            </a:avLst>
          </a:prstGeom>
          <a:solidFill>
            <a:srgbClr val="121417"/>
          </a:solidFill>
          <a:ln w="12700">
            <a:solidFill>
              <a:srgbClr val="23262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27548" y="338328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3" name="Image 1" descr="/private/tmp/claude-501/-Users-ulasbudak-Desktop-borsa-app/e78c8e07-ac03-4beb-bcc3-115504839e4a/scratchpad/deck/icons/activity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758" y="3466490"/>
            <a:ext cx="473659" cy="47365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16552" y="416052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Analiz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462272" y="4544568"/>
            <a:ext cx="2770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indikatör, çoklu zaman dilimi, kural bazlı otomatik sinyal üretimi, çizim araçları.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827264" y="3063240"/>
            <a:ext cx="3319272" cy="2331720"/>
          </a:xfrm>
          <a:prstGeom prst="roundRect">
            <a:avLst>
              <a:gd name="adj" fmla="val 4706"/>
            </a:avLst>
          </a:prstGeom>
          <a:solidFill>
            <a:srgbClr val="121417"/>
          </a:solidFill>
          <a:ln w="12700">
            <a:solidFill>
              <a:srgbClr val="23262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66860" y="338328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8" name="Image 2" descr="/private/tmp/claude-501/-Users-ulasbudak-Desktop-borsa-app/e78c8e07-ac03-4beb-bcc3-115504839e4a/scratchpad/deck/icons/cpu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0070" y="3466490"/>
            <a:ext cx="473659" cy="47365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055864" y="416052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Destekli Yorum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101584" y="4544568"/>
            <a:ext cx="2770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tabanlı temel analiz yorumu + CV modeliyle grafik okuma — kendi verimizle zeminlenmiş (RAG).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22" name="Image 3" descr="/private/tmp/claude-501/-Users-ulasbudak-Desktop-borsa-app/e78c8e07-ac03-4beb-bcc3-115504839e4a/scratchpad/deck/logo_mark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37376"/>
            <a:ext cx="173736" cy="17373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86384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BOROCEAN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Sekiz modülde uçtan uca araştırma deneyimi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121417"/>
          </a:solidFill>
          <a:ln w="12700">
            <a:solidFill>
              <a:srgbClr val="23262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11096"/>
            <a:ext cx="457200" cy="457200"/>
          </a:xfrm>
          <a:prstGeom prst="ellipse">
            <a:avLst/>
          </a:prstGeom>
          <a:solidFill>
            <a:srgbClr val="1E2126"/>
          </a:solidFill>
          <a:ln/>
        </p:spPr>
      </p:sp>
      <p:pic>
        <p:nvPicPr>
          <p:cNvPr id="6" name="Image 0" descr="/private/tmp/claude-501/-Users-ulasbudak-Desktop-borsa-app/e78c8e07-ac03-4beb-bcc3-115504839e4a/scratchpad/deck/icons/search-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" y="1970532"/>
            <a:ext cx="338328" cy="338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51460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Hisse Arama &amp; Keşif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99008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BIST + ABD tek arama, özet skor kartı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64408" y="169164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121417"/>
          </a:solidFill>
          <a:ln w="12700">
            <a:solidFill>
              <a:srgbClr val="23262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83864" y="1911096"/>
            <a:ext cx="457200" cy="457200"/>
          </a:xfrm>
          <a:prstGeom prst="ellipse">
            <a:avLst/>
          </a:prstGeom>
          <a:solidFill>
            <a:srgbClr val="1E2126"/>
          </a:solidFill>
          <a:ln/>
        </p:spPr>
      </p:sp>
      <p:pic>
        <p:nvPicPr>
          <p:cNvPr id="11" name="Image 1" descr="/private/tmp/claude-501/-Users-ulasbudak-Desktop-borsa-app/e78c8e07-ac03-4beb-bcc3-115504839e4a/scratchpad/deck/icons/chart-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1970532"/>
            <a:ext cx="338328" cy="33832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65576" y="251460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Analiz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3465576" y="299008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Sektör kıyaslamalı metrikler, 5 yıllık grafik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980176" y="169164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121417"/>
          </a:solidFill>
          <a:ln w="12700">
            <a:solidFill>
              <a:srgbClr val="23262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99632" y="1911096"/>
            <a:ext cx="457200" cy="457200"/>
          </a:xfrm>
          <a:prstGeom prst="ellipse">
            <a:avLst/>
          </a:prstGeom>
          <a:solidFill>
            <a:srgbClr val="1E2126"/>
          </a:solidFill>
          <a:ln/>
        </p:spPr>
      </p:sp>
      <p:pic>
        <p:nvPicPr>
          <p:cNvPr id="16" name="Image 2" descr="/private/tmp/claude-501/-Users-ulasbudak-Desktop-borsa-app/e78c8e07-ac03-4beb-bcc3-115504839e4a/scratchpad/deck/icons/activity-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068" y="1970532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81344" y="251460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Analiz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181344" y="299008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indikatör, çizim araçları, sinyaller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695944" y="169164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121417"/>
          </a:solidFill>
          <a:ln w="12700">
            <a:solidFill>
              <a:srgbClr val="23262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15400" y="1911096"/>
            <a:ext cx="457200" cy="457200"/>
          </a:xfrm>
          <a:prstGeom prst="ellipse">
            <a:avLst/>
          </a:prstGeom>
          <a:solidFill>
            <a:srgbClr val="1E2126"/>
          </a:solidFill>
          <a:ln/>
        </p:spPr>
      </p:sp>
      <p:pic>
        <p:nvPicPr>
          <p:cNvPr id="21" name="Image 3" descr="/private/tmp/claude-501/-Users-ulasbudak-Desktop-borsa-app/e78c8e07-ac03-4beb-bcc3-115504839e4a/scratchpad/deck/icons/filter-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4836" y="1970532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897112" y="251460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Tarama &amp; Karşılaştırma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8897112" y="299008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kriter screener, kayıtlı taramalar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384048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121417"/>
          </a:solidFill>
          <a:ln w="12700">
            <a:solidFill>
              <a:srgbClr val="23262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68096" y="4059936"/>
            <a:ext cx="457200" cy="457200"/>
          </a:xfrm>
          <a:prstGeom prst="ellipse">
            <a:avLst/>
          </a:prstGeom>
          <a:solidFill>
            <a:srgbClr val="1E2126"/>
          </a:solidFill>
          <a:ln/>
        </p:spPr>
      </p:sp>
      <p:pic>
        <p:nvPicPr>
          <p:cNvPr id="26" name="Image 4" descr="/private/tmp/claude-501/-Users-ulasbudak-Desktop-borsa-app/e78c8e07-ac03-4beb-bcc3-115504839e4a/scratchpad/deck/icons/bell-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" y="4119372"/>
            <a:ext cx="338328" cy="33832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49808" y="466344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İzleme &amp; Alarm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749808" y="513892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Fiyat/indikatör bazlı push + e-posta bildirim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264408" y="384048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121417"/>
          </a:solidFill>
          <a:ln w="12700">
            <a:solidFill>
              <a:srgbClr val="23262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483864" y="4059936"/>
            <a:ext cx="457200" cy="457200"/>
          </a:xfrm>
          <a:prstGeom prst="ellipse">
            <a:avLst/>
          </a:prstGeom>
          <a:solidFill>
            <a:srgbClr val="1E2126"/>
          </a:solidFill>
          <a:ln/>
        </p:spPr>
      </p:sp>
      <p:pic>
        <p:nvPicPr>
          <p:cNvPr id="31" name="Image 5" descr="/private/tmp/claude-501/-Users-ulasbudak-Desktop-borsa-app/e78c8e07-ac03-4beb-bcc3-115504839e4a/scratchpad/deck/icons/briefcase-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3300" y="4119372"/>
            <a:ext cx="338328" cy="33832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465576" y="466344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Portföy Takibi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3465576" y="513892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portföy, anlık kâr/zarar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5980176" y="384048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121417"/>
          </a:solidFill>
          <a:ln w="12700">
            <a:solidFill>
              <a:srgbClr val="23262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199632" y="4059936"/>
            <a:ext cx="457200" cy="457200"/>
          </a:xfrm>
          <a:prstGeom prst="ellipse">
            <a:avLst/>
          </a:prstGeom>
          <a:solidFill>
            <a:srgbClr val="1E2126"/>
          </a:solidFill>
          <a:ln/>
        </p:spPr>
      </p:sp>
      <p:pic>
        <p:nvPicPr>
          <p:cNvPr id="36" name="Image 6" descr="/private/tmp/claude-501/-Users-ulasbudak-Desktop-borsa-app/e78c8e07-ac03-4beb-bcc3-115504839e4a/scratchpad/deck/icons/user-acc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9068" y="4119372"/>
            <a:ext cx="338328" cy="33832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181344" y="466344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Kişiselleştirme</a:t>
            </a:r>
            <a:endParaRPr lang="en-US" sz="1250" dirty="0"/>
          </a:p>
        </p:txBody>
      </p:sp>
      <p:sp>
        <p:nvSpPr>
          <p:cNvPr id="38" name="Text 29"/>
          <p:cNvSpPr txBox="1"/>
          <p:nvPr/>
        </p:nvSpPr>
        <p:spPr>
          <a:xfrm>
            <a:off x="6181344" y="513892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İlgi profili, sektör tercihleri, notlar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8695944" y="384048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121417"/>
          </a:solidFill>
          <a:ln w="12700">
            <a:solidFill>
              <a:srgbClr val="23262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8915400" y="4059936"/>
            <a:ext cx="457200" cy="457200"/>
          </a:xfrm>
          <a:prstGeom prst="ellipse">
            <a:avLst/>
          </a:prstGeom>
          <a:solidFill>
            <a:srgbClr val="1E2126"/>
          </a:solidFill>
          <a:ln/>
        </p:spPr>
      </p:sp>
      <p:pic>
        <p:nvPicPr>
          <p:cNvPr id="41" name="Image 7" descr="/private/tmp/claude-501/-Users-ulasbudak-Desktop-borsa-app/e78c8e07-ac03-4beb-bcc3-115504839e4a/scratchpad/deck/icons/globe-acce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4836" y="4119372"/>
            <a:ext cx="338328" cy="338328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8897112" y="466344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/ EN Lokalizasyon</a:t>
            </a:r>
            <a:endParaRPr lang="en-US" sz="1250" dirty="0"/>
          </a:p>
        </p:txBody>
      </p:sp>
      <p:sp>
        <p:nvSpPr>
          <p:cNvPr id="43" name="Text 33"/>
          <p:cNvSpPr txBox="1"/>
          <p:nvPr/>
        </p:nvSpPr>
        <p:spPr>
          <a:xfrm>
            <a:off x="8897112" y="513892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Türkçe + İngilizce arayüz</a:t>
            </a:r>
            <a:endParaRPr lang="en-US" sz="1000" dirty="0"/>
          </a:p>
        </p:txBody>
      </p:sp>
      <p:sp>
        <p:nvSpPr>
          <p:cNvPr id="44" name="Text 34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45" name="Image 8" descr="/private/tmp/claude-501/-Users-ulasbudak-Desktop-borsa-app/e78c8e07-ac03-4beb-bcc3-115504839e4a/scratchpad/deck/logo_mark_accen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437376"/>
            <a:ext cx="173736" cy="173736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786384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BOROCEAN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FARKLILAŞMA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katmanı: aynı hisseye üç ayrı, şeffaf etiketli görüş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19272" cy="3246120"/>
          </a:xfrm>
          <a:prstGeom prst="roundRect">
            <a:avLst>
              <a:gd name="adj" fmla="val 3380"/>
            </a:avLst>
          </a:prstGeom>
          <a:solidFill>
            <a:srgbClr val="1E2126"/>
          </a:solidFill>
          <a:ln w="12700">
            <a:solidFill>
              <a:srgbClr val="2E323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12064" cy="512064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6" name="Image 0" descr="/private/tmp/claude-501/-Users-ulasbudak-Desktop-borsa-app/e78c8e07-ac03-4beb-bcc3-115504839e4a/scratchpad/deck/icons/checkCircl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240" y="2014240"/>
            <a:ext cx="378927" cy="37892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67712" y="202082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34D399">
              <a:alpha val="18000"/>
            </a:srgbClr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267712" y="20208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Üretimde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651760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 Bazlı Puan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3172968"/>
            <a:ext cx="28072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0-100 metrik puanı + kategori dökümü; al/sat etiketi yok. Temel + teknik sinyallerin deterministik birleşimi.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187952" y="1691640"/>
            <a:ext cx="3319272" cy="3246120"/>
          </a:xfrm>
          <a:prstGeom prst="roundRect">
            <a:avLst>
              <a:gd name="adj" fmla="val 3380"/>
            </a:avLst>
          </a:prstGeom>
          <a:solidFill>
            <a:srgbClr val="1E2126"/>
          </a:solidFill>
          <a:ln w="12700">
            <a:solidFill>
              <a:srgbClr val="2E323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43984" y="1947672"/>
            <a:ext cx="512064" cy="512064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3" name="Image 1" descr="/private/tmp/claude-501/-Users-ulasbudak-Desktop-borsa-app/e78c8e07-ac03-4beb-bcc3-115504839e4a/scratchpad/deck/icons/messag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552" y="2014240"/>
            <a:ext cx="378927" cy="37892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907024" y="202082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3B82F6">
              <a:alpha val="18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907024" y="20208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haritasında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4443984" y="2651760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Temel Analiz Yorumu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443984" y="3172968"/>
            <a:ext cx="28072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ile serbest formatlı yorum — uygulamanın kendi temel verisiyle zeminlenir (RAG), salt eğitim verisine dayanmaz.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827264" y="1691640"/>
            <a:ext cx="3319272" cy="3246120"/>
          </a:xfrm>
          <a:prstGeom prst="roundRect">
            <a:avLst>
              <a:gd name="adj" fmla="val 3380"/>
            </a:avLst>
          </a:prstGeom>
          <a:solidFill>
            <a:srgbClr val="1E2126"/>
          </a:solidFill>
          <a:ln w="12700">
            <a:solidFill>
              <a:srgbClr val="2E323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83296" y="1947672"/>
            <a:ext cx="512064" cy="512064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0" name="Image 2" descr="/private/tmp/claude-501/-Users-ulasbudak-Desktop-borsa-app/e78c8e07-ac03-4beb-bcc3-115504839e4a/scratchpad/deck/icons/activity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864" y="2014240"/>
            <a:ext cx="378927" cy="378927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546336" y="202082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3B82F6">
              <a:alpha val="18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9546336" y="20208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haritasında</a:t>
            </a:r>
            <a:endParaRPr lang="en-US" sz="950" dirty="0"/>
          </a:p>
        </p:txBody>
      </p:sp>
      <p:sp>
        <p:nvSpPr>
          <p:cNvPr id="23" name="Text 18"/>
          <p:cNvSpPr txBox="1"/>
          <p:nvPr/>
        </p:nvSpPr>
        <p:spPr>
          <a:xfrm>
            <a:off x="8083296" y="2651760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Teknik Okuma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8083296" y="3172968"/>
            <a:ext cx="28072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Önceden eğitilmiş bir görüntü-tanıma (CV) modeliyle candlestick grafik okuması — ayrı ve açıkça etiketlenmiş bir "ikinci görüş".</a:t>
            </a:r>
            <a:endParaRPr lang="en-US" sz="115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51663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görüş birbirinden bağımsız ve şeffaf şekilde sunulur — “tavsiye” değil, “örüntü/sinyal bulgusu” dilinde. Tüm ekranlarda “yatırım tavsiyesi değildir” ibaresi bulunur.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7" name="Image 3" descr="/private/tmp/claude-501/-Users-ulasbudak-Desktop-borsa-app/e78c8e07-ac03-4beb-bcc3-115504839e4a/scratchpad/deck/logo_mark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37376"/>
            <a:ext cx="173736" cy="173736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86384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BOROCEAN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KONUMLANDIRMA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Kimse bu dördünü aynı anda sunmuyor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108960" cy="502920"/>
          </a:xfrm>
          <a:prstGeom prst="rect">
            <a:avLst/>
          </a:prstGeom>
          <a:solidFill>
            <a:srgbClr val="1E2126"/>
          </a:solidFill>
          <a:ln w="6350">
            <a:solidFill>
              <a:srgbClr val="2E32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0" y="1691640"/>
            <a:ext cx="1874520" cy="502920"/>
          </a:xfrm>
          <a:prstGeom prst="rect">
            <a:avLst/>
          </a:prstGeom>
          <a:solidFill>
            <a:srgbClr val="3B82F6"/>
          </a:solidFill>
          <a:ln w="6350">
            <a:solidFill>
              <a:srgbClr val="2E32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49040" y="16916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Borocean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32120" y="1691640"/>
            <a:ext cx="1874520" cy="502920"/>
          </a:xfrm>
          <a:prstGeom prst="rect">
            <a:avLst/>
          </a:prstGeom>
          <a:solidFill>
            <a:srgbClr val="1E2126"/>
          </a:solidFill>
          <a:ln w="6350">
            <a:solidFill>
              <a:srgbClr val="2E32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16916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06640" y="1691640"/>
            <a:ext cx="1874520" cy="502920"/>
          </a:xfrm>
          <a:prstGeom prst="rect">
            <a:avLst/>
          </a:prstGeom>
          <a:solidFill>
            <a:srgbClr val="1E2126"/>
          </a:solidFill>
          <a:ln w="6350">
            <a:solidFill>
              <a:srgbClr val="2E323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0" y="16916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/ Investing.com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281160" y="1691640"/>
            <a:ext cx="1874520" cy="502920"/>
          </a:xfrm>
          <a:prstGeom prst="rect">
            <a:avLst/>
          </a:prstGeom>
          <a:solidFill>
            <a:srgbClr val="1E2126"/>
          </a:solidFill>
          <a:ln w="6350">
            <a:solidFill>
              <a:srgbClr val="2E323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72600" y="16916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Aracı Kurum Uygulamaları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194560"/>
            <a:ext cx="3108960" cy="566928"/>
          </a:xfrm>
          <a:prstGeom prst="rect">
            <a:avLst/>
          </a:prstGeom>
          <a:solidFill>
            <a:srgbClr val="121417"/>
          </a:solidFill>
          <a:ln w="6350">
            <a:solidFill>
              <a:srgbClr val="2326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19456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BIST derinliği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2194560"/>
            <a:ext cx="1874520" cy="566928"/>
          </a:xfrm>
          <a:prstGeom prst="rect">
            <a:avLst/>
          </a:prstGeom>
          <a:solidFill>
            <a:srgbClr val="1E2126"/>
          </a:solidFill>
          <a:ln w="6350">
            <a:solidFill>
              <a:srgbClr val="2326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57600" y="219456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32120" y="2194560"/>
            <a:ext cx="1874520" cy="566928"/>
          </a:xfrm>
          <a:prstGeom prst="rect">
            <a:avLst/>
          </a:prstGeom>
          <a:solidFill>
            <a:srgbClr val="121417"/>
          </a:solidFill>
          <a:ln w="6350">
            <a:solidFill>
              <a:srgbClr val="2326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32120" y="219456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06640" y="2194560"/>
            <a:ext cx="1874520" cy="566928"/>
          </a:xfrm>
          <a:prstGeom prst="rect">
            <a:avLst/>
          </a:prstGeom>
          <a:solidFill>
            <a:srgbClr val="121417"/>
          </a:solidFill>
          <a:ln w="6350">
            <a:solidFill>
              <a:srgbClr val="2326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06640" y="219456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281160" y="2194560"/>
            <a:ext cx="1874520" cy="566928"/>
          </a:xfrm>
          <a:prstGeom prst="rect">
            <a:avLst/>
          </a:prstGeom>
          <a:solidFill>
            <a:srgbClr val="121417"/>
          </a:solidFill>
          <a:ln w="6350">
            <a:solidFill>
              <a:srgbClr val="2326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81160" y="219456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2761488"/>
            <a:ext cx="3108960" cy="566928"/>
          </a:xfrm>
          <a:prstGeom prst="rect">
            <a:avLst/>
          </a:prstGeom>
          <a:solidFill>
            <a:srgbClr val="0A0B0D"/>
          </a:solidFill>
          <a:ln w="6350">
            <a:solidFill>
              <a:srgbClr val="2326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276148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+ sektör kıyaslama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0" y="2761488"/>
            <a:ext cx="1874520" cy="566928"/>
          </a:xfrm>
          <a:prstGeom prst="rect">
            <a:avLst/>
          </a:prstGeom>
          <a:solidFill>
            <a:srgbClr val="1E2126"/>
          </a:solidFill>
          <a:ln w="6350">
            <a:solidFill>
              <a:srgbClr val="23262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57600" y="276148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532120" y="2761488"/>
            <a:ext cx="1874520" cy="566928"/>
          </a:xfrm>
          <a:prstGeom prst="rect">
            <a:avLst/>
          </a:prstGeom>
          <a:solidFill>
            <a:srgbClr val="0A0B0D"/>
          </a:solidFill>
          <a:ln w="6350">
            <a:solidFill>
              <a:srgbClr val="2326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32120" y="276148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406640" y="2761488"/>
            <a:ext cx="1874520" cy="566928"/>
          </a:xfrm>
          <a:prstGeom prst="rect">
            <a:avLst/>
          </a:prstGeom>
          <a:solidFill>
            <a:srgbClr val="0A0B0D"/>
          </a:solidFill>
          <a:ln w="6350">
            <a:solidFill>
              <a:srgbClr val="2326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06640" y="276148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281160" y="2761488"/>
            <a:ext cx="1874520" cy="566928"/>
          </a:xfrm>
          <a:prstGeom prst="rect">
            <a:avLst/>
          </a:prstGeom>
          <a:solidFill>
            <a:srgbClr val="0A0B0D"/>
          </a:solidFill>
          <a:ln w="6350">
            <a:solidFill>
              <a:srgbClr val="23262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281160" y="276148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8640" y="3328416"/>
            <a:ext cx="3108960" cy="566928"/>
          </a:xfrm>
          <a:prstGeom prst="rect">
            <a:avLst/>
          </a:prstGeom>
          <a:solidFill>
            <a:srgbClr val="121417"/>
          </a:solidFill>
          <a:ln w="6350">
            <a:solidFill>
              <a:srgbClr val="23262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3328416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destekli 2. görüş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0" y="3328416"/>
            <a:ext cx="1874520" cy="566928"/>
          </a:xfrm>
          <a:prstGeom prst="rect">
            <a:avLst/>
          </a:prstGeom>
          <a:solidFill>
            <a:srgbClr val="1E2126"/>
          </a:solidFill>
          <a:ln w="6350">
            <a:solidFill>
              <a:srgbClr val="23262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657600" y="332841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532120" y="3328416"/>
            <a:ext cx="1874520" cy="566928"/>
          </a:xfrm>
          <a:prstGeom prst="rect">
            <a:avLst/>
          </a:prstGeom>
          <a:solidFill>
            <a:srgbClr val="121417"/>
          </a:solidFill>
          <a:ln w="6350">
            <a:solidFill>
              <a:srgbClr val="23262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532120" y="332841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406640" y="3328416"/>
            <a:ext cx="1874520" cy="566928"/>
          </a:xfrm>
          <a:prstGeom prst="rect">
            <a:avLst/>
          </a:prstGeom>
          <a:solidFill>
            <a:srgbClr val="121417"/>
          </a:solidFill>
          <a:ln w="6350">
            <a:solidFill>
              <a:srgbClr val="23262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406640" y="332841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281160" y="3328416"/>
            <a:ext cx="1874520" cy="566928"/>
          </a:xfrm>
          <a:prstGeom prst="rect">
            <a:avLst/>
          </a:prstGeom>
          <a:solidFill>
            <a:srgbClr val="121417"/>
          </a:solidFill>
          <a:ln w="6350">
            <a:solidFill>
              <a:srgbClr val="23262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281160" y="332841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48640" y="3895344"/>
            <a:ext cx="3108960" cy="566928"/>
          </a:xfrm>
          <a:prstGeom prst="rect">
            <a:avLst/>
          </a:prstGeom>
          <a:solidFill>
            <a:srgbClr val="0A0B0D"/>
          </a:solidFill>
          <a:ln w="6350">
            <a:solidFill>
              <a:srgbClr val="23262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85800" y="389534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Tarafsızlık (komisyon yok)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0" y="3895344"/>
            <a:ext cx="1874520" cy="566928"/>
          </a:xfrm>
          <a:prstGeom prst="rect">
            <a:avLst/>
          </a:prstGeom>
          <a:solidFill>
            <a:srgbClr val="1E2126"/>
          </a:solidFill>
          <a:ln w="6350">
            <a:solidFill>
              <a:srgbClr val="23262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657600" y="3895344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532120" y="3895344"/>
            <a:ext cx="1874520" cy="566928"/>
          </a:xfrm>
          <a:prstGeom prst="rect">
            <a:avLst/>
          </a:prstGeom>
          <a:solidFill>
            <a:srgbClr val="0A0B0D"/>
          </a:solidFill>
          <a:ln w="6350">
            <a:solidFill>
              <a:srgbClr val="23262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532120" y="3895344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406640" y="3895344"/>
            <a:ext cx="1874520" cy="566928"/>
          </a:xfrm>
          <a:prstGeom prst="rect">
            <a:avLst/>
          </a:prstGeom>
          <a:solidFill>
            <a:srgbClr val="0A0B0D"/>
          </a:solidFill>
          <a:ln w="6350">
            <a:solidFill>
              <a:srgbClr val="23262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406640" y="3895344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281160" y="3895344"/>
            <a:ext cx="1874520" cy="566928"/>
          </a:xfrm>
          <a:prstGeom prst="rect">
            <a:avLst/>
          </a:prstGeom>
          <a:solidFill>
            <a:srgbClr val="0A0B0D"/>
          </a:solidFill>
          <a:ln w="6350">
            <a:solidFill>
              <a:srgbClr val="23262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281160" y="3895344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48640" y="4462272"/>
            <a:ext cx="3108960" cy="566928"/>
          </a:xfrm>
          <a:prstGeom prst="rect">
            <a:avLst/>
          </a:prstGeom>
          <a:solidFill>
            <a:srgbClr val="121417"/>
          </a:solidFill>
          <a:ln w="6350">
            <a:solidFill>
              <a:srgbClr val="23262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85800" y="446227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Türkçe deneyim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657600" y="4462272"/>
            <a:ext cx="1874520" cy="566928"/>
          </a:xfrm>
          <a:prstGeom prst="rect">
            <a:avLst/>
          </a:prstGeom>
          <a:solidFill>
            <a:srgbClr val="1E2126"/>
          </a:solidFill>
          <a:ln w="6350">
            <a:solidFill>
              <a:srgbClr val="23262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657600" y="446227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532120" y="4462272"/>
            <a:ext cx="1874520" cy="566928"/>
          </a:xfrm>
          <a:prstGeom prst="rect">
            <a:avLst/>
          </a:prstGeom>
          <a:solidFill>
            <a:srgbClr val="121417"/>
          </a:solidFill>
          <a:ln w="6350">
            <a:solidFill>
              <a:srgbClr val="23262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532120" y="446227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406640" y="4462272"/>
            <a:ext cx="1874520" cy="566928"/>
          </a:xfrm>
          <a:prstGeom prst="rect">
            <a:avLst/>
          </a:prstGeom>
          <a:solidFill>
            <a:srgbClr val="121417"/>
          </a:solidFill>
          <a:ln w="6350">
            <a:solidFill>
              <a:srgbClr val="23262B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406640" y="446227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281160" y="4462272"/>
            <a:ext cx="1874520" cy="566928"/>
          </a:xfrm>
          <a:prstGeom prst="rect">
            <a:avLst/>
          </a:prstGeom>
          <a:solidFill>
            <a:srgbClr val="121417"/>
          </a:solidFill>
          <a:ln w="6350">
            <a:solidFill>
              <a:srgbClr val="23262B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281160" y="446227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4" name="Text 62"/>
          <p:cNvSpPr txBox="1"/>
          <p:nvPr/>
        </p:nvSpPr>
        <p:spPr>
          <a:xfrm>
            <a:off x="548640" y="51663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yalnızca kendi kurum kullanıcısına, sınırlı derinlik   †  AI yorum katmanı yol haritasında (bkz. slayt 5)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48640" y="5623560"/>
            <a:ext cx="10607040" cy="594360"/>
          </a:xfrm>
          <a:prstGeom prst="roundRect">
            <a:avLst>
              <a:gd name="adj" fmla="val 18462"/>
            </a:avLst>
          </a:prstGeom>
          <a:solidFill>
            <a:srgbClr val="1E2126"/>
          </a:solidFill>
          <a:ln w="12700">
            <a:solidFill>
              <a:srgbClr val="2E323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6" name="Text 64"/>
          <p:cNvSpPr txBox="1"/>
          <p:nvPr/>
        </p:nvSpPr>
        <p:spPr>
          <a:xfrm>
            <a:off x="822960" y="56235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Konumlandırma cümlesi:  “İki borsa, üç görüş, tek uygulama.”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pic>
        <p:nvPicPr>
          <p:cNvPr id="68" name="Image 0" descr="/private/tmp/claude-501/-Users-ulasbudak-Desktop-borsa-app/e78c8e07-ac03-4beb-bcc3-115504839e4a/scratchpad/deck/logo_mark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37376"/>
            <a:ext cx="173736" cy="173736"/>
          </a:xfrm>
          <a:prstGeom prst="rect">
            <a:avLst/>
          </a:prstGeom>
        </p:spPr>
      </p:pic>
      <p:sp>
        <p:nvSpPr>
          <p:cNvPr id="69" name="Text 66"/>
          <p:cNvSpPr txBox="1"/>
          <p:nvPr/>
        </p:nvSpPr>
        <p:spPr>
          <a:xfrm>
            <a:off x="786384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BOROCEAN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KITLE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İki segment, tek ürün — farklı derinlik katmanlarıyla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66360" cy="4160520"/>
          </a:xfrm>
          <a:prstGeom prst="roundRect">
            <a:avLst>
              <a:gd name="adj" fmla="val 2637"/>
            </a:avLst>
          </a:prstGeom>
          <a:solidFill>
            <a:srgbClr val="1E2126"/>
          </a:solidFill>
          <a:ln w="12700">
            <a:solidFill>
              <a:srgbClr val="2E323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6" name="Image 0" descr="/private/tmp/claude-501/-Users-ulasbudak-Desktop-borsa-app/e78c8e07-ac03-4beb-bcc3-115504839e4a/scratchpad/deck/icons/use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2037283"/>
            <a:ext cx="405994" cy="4059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9842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— Yeni / Amatör Yatırımcı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3134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Beachhead: 1. dalga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3464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(JTBD)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09067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Haberde duyduğu bir hisseyi hızlıca “ucuz mu pahalı mı” diye anlamak, jargona boğulmadan karar vermek.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822192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NE YAPIYOR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07822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medya tüyoları, karmaşık İngilizce araçlar ya da hiç analiz yapmama.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809744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BOROCEAN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5065776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 özet skor + sektör kıyaslamalı metrikler + AI'nin sade Türkçe yorumu. Büyük, düşük-CAC, yüksek organik paylaşım potansiyelli kitle.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1691640"/>
            <a:ext cx="5166360" cy="4160520"/>
          </a:xfrm>
          <a:prstGeom prst="roundRect">
            <a:avLst>
              <a:gd name="adj" fmla="val 2637"/>
            </a:avLst>
          </a:prstGeom>
          <a:solidFill>
            <a:srgbClr val="1E2126"/>
          </a:solidFill>
          <a:ln w="12700">
            <a:solidFill>
              <a:srgbClr val="2E323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309360" y="19659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7" name="Image 1" descr="/private/tmp/claude-501/-Users-ulasbudak-Desktop-borsa-app/e78c8e07-ac03-4beb-bcc3-115504839e4a/scratchpad/deck/icons/activity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683" y="2037283"/>
            <a:ext cx="405994" cy="40599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995160" y="19842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Mehmet — Aktif Trader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6995160" y="23134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dalga · yüksek LTV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6309360" y="283464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(JTBD)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6309360" y="309067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kriterlerine uyan hisseleri taramak, çoklu indikatörle teyit almak, hisseleri yan yana kıyaslamak.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6309360" y="3822192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NE YAPIYOR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6309360" y="4078224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TradingView + ayrı temel analiz aracı + ayrı Excel takibi — parçalı bir iş akışı.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6309360" y="4809744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BOROCEAN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6309360" y="5065776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indikatör, kayıtlı taramalar, karşılaştırma tablosu — BIST + ABD tek yerde. Premium'a daha hızlı geçen segment.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pic>
        <p:nvPicPr>
          <p:cNvPr id="27" name="Image 2" descr="/private/tmp/claude-501/-Users-ulasbudak-Desktop-borsa-app/e78c8e07-ac03-4beb-bcc3-115504839e4a/scratchpad/deck/logo_mark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37376"/>
            <a:ext cx="173736" cy="17373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786384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BOROCEAN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MODELI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Freemium — ve bilinçli bir “ücretsiz lansman” evresi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66360" cy="3063240"/>
          </a:xfrm>
          <a:prstGeom prst="roundRect">
            <a:avLst>
              <a:gd name="adj" fmla="val 3582"/>
            </a:avLst>
          </a:prstGeom>
          <a:solidFill>
            <a:srgbClr val="121417"/>
          </a:solidFill>
          <a:ln w="12700">
            <a:solidFill>
              <a:srgbClr val="23262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9280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Ücretsiz Katman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237744" cy="237744"/>
          </a:xfrm>
          <a:prstGeom prst="ellipse">
            <a:avLst/>
          </a:prstGeom>
          <a:solidFill>
            <a:srgbClr val="2E3239"/>
          </a:solidFill>
          <a:ln/>
        </p:spPr>
      </p:sp>
      <p:pic>
        <p:nvPicPr>
          <p:cNvPr id="7" name="Image 0" descr="/private/tmp/claude-501/-Users-ulasbudak-Desktop-borsa-app/e78c8e07-ac03-4beb-bcc3-115504839e4a/scratchpad/deck/icons/checkCircl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23160"/>
            <a:ext cx="146304" cy="14630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70432" y="235000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Gecikmeli/günlük fiyat verisi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2761488"/>
            <a:ext cx="237744" cy="237744"/>
          </a:xfrm>
          <a:prstGeom prst="ellipse">
            <a:avLst/>
          </a:prstGeom>
          <a:solidFill>
            <a:srgbClr val="2E3239"/>
          </a:solidFill>
          <a:ln/>
        </p:spPr>
      </p:sp>
      <p:pic>
        <p:nvPicPr>
          <p:cNvPr id="10" name="Image 1" descr="/private/tmp/claude-501/-Users-ulasbudak-Desktop-borsa-app/e78c8e07-ac03-4beb-bcc3-115504839e4a/scratchpad/deck/icons/checkCircl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07208"/>
            <a:ext cx="146304" cy="14630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70432" y="273405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metrikler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2960" y="3145536"/>
            <a:ext cx="237744" cy="237744"/>
          </a:xfrm>
          <a:prstGeom prst="ellipse">
            <a:avLst/>
          </a:prstGeom>
          <a:solidFill>
            <a:srgbClr val="2E3239"/>
          </a:solidFill>
          <a:ln/>
        </p:spPr>
      </p:sp>
      <p:pic>
        <p:nvPicPr>
          <p:cNvPr id="13" name="Image 2" descr="/private/tmp/claude-501/-Users-ulasbudak-Desktop-borsa-app/e78c8e07-ac03-4beb-bcc3-115504839e4a/scratchpad/deck/icons/checkCircl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91256"/>
            <a:ext cx="146304" cy="1463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70432" y="311810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Sınırlı izleme listesi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22960" y="3529584"/>
            <a:ext cx="237744" cy="237744"/>
          </a:xfrm>
          <a:prstGeom prst="ellipse">
            <a:avLst/>
          </a:prstGeom>
          <a:solidFill>
            <a:srgbClr val="2E3239"/>
          </a:solidFill>
          <a:ln/>
        </p:spPr>
      </p:sp>
      <p:pic>
        <p:nvPicPr>
          <p:cNvPr id="16" name="Image 3" descr="/private/tmp/claude-501/-Users-ulasbudak-Desktop-borsa-app/e78c8e07-ac03-4beb-bcc3-115504839e4a/scratchpad/deck/icons/checkCircl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575304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70432" y="350215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indikatörler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822960" y="3913632"/>
            <a:ext cx="237744" cy="237744"/>
          </a:xfrm>
          <a:prstGeom prst="ellipse">
            <a:avLst/>
          </a:prstGeom>
          <a:solidFill>
            <a:srgbClr val="2E3239"/>
          </a:solidFill>
          <a:ln/>
        </p:spPr>
      </p:sp>
      <p:pic>
        <p:nvPicPr>
          <p:cNvPr id="19" name="Image 4" descr="/private/tmp/claude-501/-Users-ulasbudak-Desktop-borsa-app/e78c8e07-ac03-4beb-bcc3-115504839e4a/scratchpad/deck/icons/checkCircle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959352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170432" y="388620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alım-satım simülasyonu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6035040" y="1691640"/>
            <a:ext cx="5166360" cy="3063240"/>
          </a:xfrm>
          <a:prstGeom prst="roundRect">
            <a:avLst>
              <a:gd name="adj" fmla="val 3582"/>
            </a:avLst>
          </a:prstGeom>
          <a:solidFill>
            <a:srgbClr val="1E212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15"/>
          <p:cNvSpPr txBox="1"/>
          <p:nvPr/>
        </p:nvSpPr>
        <p:spPr>
          <a:xfrm>
            <a:off x="6309360" y="189280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Katman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6309360" y="2377440"/>
            <a:ext cx="237744" cy="237744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4" name="Image 5" descr="/private/tmp/claude-501/-Users-ulasbudak-Desktop-borsa-app/e78c8e07-ac03-4beb-bcc3-115504839e4a/scratchpad/deck/icons/checkCircle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423160"/>
            <a:ext cx="146304" cy="14630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656832" y="235000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 veri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6309360" y="2761488"/>
            <a:ext cx="237744" cy="237744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7" name="Image 6" descr="/private/tmp/claude-501/-Users-ulasbudak-Desktop-borsa-app/e78c8e07-ac03-4beb-bcc3-115504839e4a/scratchpad/deck/icons/checkCircle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2807208"/>
            <a:ext cx="146304" cy="146304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656832" y="273405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indikatör kütüphanesi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6309360" y="3145536"/>
            <a:ext cx="237744" cy="237744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30" name="Image 7" descr="/private/tmp/claude-501/-Users-ulasbudak-Desktop-borsa-app/e78c8e07-ac03-4beb-bcc3-115504839e4a/scratchpad/deck/icons/checkCircle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191256"/>
            <a:ext cx="146304" cy="146304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656832" y="311810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Sınırsız tarama &amp; alarm</a:t>
            </a:r>
            <a:endParaRPr lang="en-US" sz="1150" dirty="0"/>
          </a:p>
        </p:txBody>
      </p:sp>
      <p:sp>
        <p:nvSpPr>
          <p:cNvPr id="32" name="Shape 22"/>
          <p:cNvSpPr/>
          <p:nvPr/>
        </p:nvSpPr>
        <p:spPr>
          <a:xfrm>
            <a:off x="6309360" y="3529584"/>
            <a:ext cx="237744" cy="237744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33" name="Image 8" descr="/private/tmp/claude-501/-Users-ulasbudak-Desktop-borsa-app/e78c8e07-ac03-4beb-bcc3-115504839e4a/scratchpad/deck/icons/checkCircle-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5080" y="3575304"/>
            <a:ext cx="146304" cy="146304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6656832" y="350215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Gelişmiş karşılaştırma</a:t>
            </a:r>
            <a:endParaRPr lang="en-US" sz="1150" dirty="0"/>
          </a:p>
        </p:txBody>
      </p:sp>
      <p:sp>
        <p:nvSpPr>
          <p:cNvPr id="35" name="Shape 24"/>
          <p:cNvSpPr/>
          <p:nvPr/>
        </p:nvSpPr>
        <p:spPr>
          <a:xfrm>
            <a:off x="6309360" y="3913632"/>
            <a:ext cx="237744" cy="237744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36" name="Image 9" descr="/private/tmp/claude-501/-Users-ulasbudak-Desktop-borsa-app/e78c8e07-ac03-4beb-bcc3-115504839e4a/scratchpad/deck/icons/checkCircle-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5080" y="3959352"/>
            <a:ext cx="146304" cy="146304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6656832" y="388620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raporları (temel + teknik)</a:t>
            </a:r>
            <a:endParaRPr lang="en-US" sz="1150" dirty="0"/>
          </a:p>
        </p:txBody>
      </p:sp>
      <p:sp>
        <p:nvSpPr>
          <p:cNvPr id="38" name="Shape 26"/>
          <p:cNvSpPr/>
          <p:nvPr/>
        </p:nvSpPr>
        <p:spPr>
          <a:xfrm>
            <a:off x="6309360" y="4297680"/>
            <a:ext cx="237744" cy="237744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39" name="Image 10" descr="/private/tmp/claude-501/-Users-ulasbudak-Desktop-borsa-app/e78c8e07-ac03-4beb-bcc3-115504839e4a/scratchpad/deck/icons/checkCircle-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5080" y="4343400"/>
            <a:ext cx="146304" cy="146304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6656832" y="427024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Sınırsız simülasyon</a:t>
            </a:r>
            <a:endParaRPr lang="en-US" sz="1150" dirty="0"/>
          </a:p>
        </p:txBody>
      </p:sp>
      <p:sp>
        <p:nvSpPr>
          <p:cNvPr id="41" name="Shape 28"/>
          <p:cNvSpPr/>
          <p:nvPr/>
        </p:nvSpPr>
        <p:spPr>
          <a:xfrm>
            <a:off x="548640" y="4892040"/>
            <a:ext cx="10607040" cy="1188720"/>
          </a:xfrm>
          <a:prstGeom prst="roundRect">
            <a:avLst>
              <a:gd name="adj" fmla="val 9231"/>
            </a:avLst>
          </a:prstGeom>
          <a:solidFill>
            <a:srgbClr val="1E212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2" name="Shape 29"/>
          <p:cNvSpPr/>
          <p:nvPr/>
        </p:nvSpPr>
        <p:spPr>
          <a:xfrm>
            <a:off x="822960" y="5148072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43" name="Image 11" descr="/private/tmp/claude-501/-Users-ulasbudak-Desktop-borsa-app/e78c8e07-ac03-4beb-bcc3-115504839e4a/scratchpad/deck/icons/gift-dar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8340" y="5213452"/>
            <a:ext cx="372161" cy="372161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1508760" y="501091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 an: tüm özellikler geçici olarak ücretsiz</a:t>
            </a:r>
            <a:endParaRPr lang="en-US" sz="1350" dirty="0"/>
          </a:p>
        </p:txBody>
      </p:sp>
      <p:sp>
        <p:nvSpPr>
          <p:cNvPr id="45" name="Text 31"/>
          <p:cNvSpPr txBox="1"/>
          <p:nvPr/>
        </p:nvSpPr>
        <p:spPr>
          <a:xfrm>
            <a:off x="1508760" y="534924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Bilinçli bir lansman stratejisi: gerçek kullanım verisi, referans ve organik paylaşım toplama evresi. Ödeme sağlayıcı entegrasyonu (App/Play Store IAP + web kart ödeme) kurulduğunda ücretli katman devreye alınacak.</a:t>
            </a:r>
            <a:endParaRPr lang="en-US" sz="1150" dirty="0"/>
          </a:p>
        </p:txBody>
      </p:sp>
      <p:sp>
        <p:nvSpPr>
          <p:cNvPr id="46" name="Text 32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pic>
        <p:nvPicPr>
          <p:cNvPr id="47" name="Image 12" descr="/private/tmp/claude-501/-Users-ulasbudak-Desktop-borsa-app/e78c8e07-ac03-4beb-bcc3-115504839e4a/scratchpad/deck/logo_mark_accen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640" y="6437376"/>
            <a:ext cx="173736" cy="173736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786384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BOROCEAN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LANSMAN PLANI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günlük git-pazara stratejisi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19272" cy="2286000"/>
          </a:xfrm>
          <a:prstGeom prst="roundRect">
            <a:avLst>
              <a:gd name="adj" fmla="val 4800"/>
            </a:avLst>
          </a:prstGeom>
          <a:solidFill>
            <a:srgbClr val="1E2126"/>
          </a:solidFill>
          <a:ln w="12700">
            <a:solidFill>
              <a:srgbClr val="2E323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93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194767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Lansman Öncesi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2221992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1-4. hafta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606040"/>
            <a:ext cx="2807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içerikleri (SEO)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 — TR/EN anahtar kelime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Bekleme listesi + erken erişim</a:t>
            </a:r>
            <a:endParaRPr lang="en-US" sz="1050" dirty="0"/>
          </a:p>
        </p:txBody>
      </p:sp>
      <p:pic>
        <p:nvPicPr>
          <p:cNvPr id="10" name="Image 0" descr="/private/tmp/claude-501/-Users-ulasbudak-Desktop-borsa-app/e78c8e07-ac03-4beb-bcc3-115504839e4a/scratchpad/deck/icons/arrowRight-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2697480"/>
            <a:ext cx="274320" cy="274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87952" y="1691640"/>
            <a:ext cx="3319272" cy="2286000"/>
          </a:xfrm>
          <a:prstGeom prst="roundRect">
            <a:avLst>
              <a:gd name="adj" fmla="val 4800"/>
            </a:avLst>
          </a:prstGeom>
          <a:solidFill>
            <a:srgbClr val="1E2126"/>
          </a:solidFill>
          <a:ln w="12700">
            <a:solidFill>
              <a:srgbClr val="2E323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43984" y="19293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443984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0" y="194767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Lansman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5029200" y="2221992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5-6. hafta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443984" y="2606040"/>
            <a:ext cx="2807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Hunt + Webrazzi/Startups.watch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Micro-influencer incelemeleri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medya patlaması (X/IG/YouTube Shorts)</a:t>
            </a:r>
            <a:endParaRPr lang="en-US" sz="1050" dirty="0"/>
          </a:p>
        </p:txBody>
      </p:sp>
      <p:pic>
        <p:nvPicPr>
          <p:cNvPr id="17" name="Image 1" descr="/private/tmp/claude-501/-Users-ulasbudak-Desktop-borsa-app/e78c8e07-ac03-4beb-bcc3-115504839e4a/scratchpad/deck/icons/arrowRight-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512" y="2697480"/>
            <a:ext cx="274320" cy="2743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827264" y="1691640"/>
            <a:ext cx="3319272" cy="2286000"/>
          </a:xfrm>
          <a:prstGeom prst="roundRect">
            <a:avLst>
              <a:gd name="adj" fmla="val 4800"/>
            </a:avLst>
          </a:prstGeom>
          <a:solidFill>
            <a:srgbClr val="1E2126"/>
          </a:solidFill>
          <a:ln w="12700">
            <a:solidFill>
              <a:srgbClr val="2E323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83296" y="19293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8083296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8668512" y="194767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Büyüme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8668512" y="2221992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7-12. hafta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8083296" y="2606040"/>
            <a:ext cx="2807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Haftalık içerik ritmi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programı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Sektör bülteni growth loop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4251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KANALLAR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48640" y="4617720"/>
            <a:ext cx="1673352" cy="502920"/>
          </a:xfrm>
          <a:prstGeom prst="roundRect">
            <a:avLst>
              <a:gd name="adj" fmla="val 18182"/>
            </a:avLst>
          </a:prstGeom>
          <a:solidFill>
            <a:srgbClr val="121417"/>
          </a:solidFill>
          <a:ln w="12700">
            <a:solidFill>
              <a:srgbClr val="2E3239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21792" y="4617720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 &amp; SEO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2368296" y="4617720"/>
            <a:ext cx="1673352" cy="502920"/>
          </a:xfrm>
          <a:prstGeom prst="roundRect">
            <a:avLst>
              <a:gd name="adj" fmla="val 18182"/>
            </a:avLst>
          </a:prstGeom>
          <a:solidFill>
            <a:srgbClr val="121417"/>
          </a:solidFill>
          <a:ln w="12700">
            <a:solidFill>
              <a:srgbClr val="2E3239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2441448" y="4617720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 sosyal medya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4187952" y="4617720"/>
            <a:ext cx="1673352" cy="502920"/>
          </a:xfrm>
          <a:prstGeom prst="roundRect">
            <a:avLst>
              <a:gd name="adj" fmla="val 18182"/>
            </a:avLst>
          </a:prstGeom>
          <a:solidFill>
            <a:srgbClr val="121417"/>
          </a:solidFill>
          <a:ln w="12700">
            <a:solidFill>
              <a:srgbClr val="2E3239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261104" y="4617720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Topluluklar (Reddit/Discord)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007608" y="4617720"/>
            <a:ext cx="1673352" cy="502920"/>
          </a:xfrm>
          <a:prstGeom prst="roundRect">
            <a:avLst>
              <a:gd name="adj" fmla="val 18182"/>
            </a:avLst>
          </a:prstGeom>
          <a:solidFill>
            <a:srgbClr val="121417"/>
          </a:solidFill>
          <a:ln w="12700">
            <a:solidFill>
              <a:srgbClr val="2E3239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080760" y="4617720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Micro-influencer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7827264" y="4617720"/>
            <a:ext cx="1673352" cy="502920"/>
          </a:xfrm>
          <a:prstGeom prst="roundRect">
            <a:avLst>
              <a:gd name="adj" fmla="val 18182"/>
            </a:avLst>
          </a:prstGeom>
          <a:solidFill>
            <a:srgbClr val="121417"/>
          </a:solidFill>
          <a:ln w="12700">
            <a:solidFill>
              <a:srgbClr val="2E3239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900416" y="4617720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9646920" y="4617720"/>
            <a:ext cx="1673352" cy="502920"/>
          </a:xfrm>
          <a:prstGeom prst="roundRect">
            <a:avLst>
              <a:gd name="adj" fmla="val 18182"/>
            </a:avLst>
          </a:prstGeom>
          <a:solidFill>
            <a:srgbClr val="121417"/>
          </a:solidFill>
          <a:ln w="12700">
            <a:solidFill>
              <a:srgbClr val="2E3239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9720072" y="4617720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programı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548640" y="5440680"/>
            <a:ext cx="10607040" cy="868680"/>
          </a:xfrm>
          <a:prstGeom prst="roundRect">
            <a:avLst>
              <a:gd name="adj" fmla="val 12632"/>
            </a:avLst>
          </a:prstGeom>
          <a:solidFill>
            <a:srgbClr val="1E2126"/>
          </a:solidFill>
          <a:ln w="12700">
            <a:solidFill>
              <a:srgbClr val="2E323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822960" y="5605272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39" name="Image 2" descr="/private/tmp/claude-501/-Users-ulasbudak-Desktop-borsa-app/e78c8e07-ac03-4beb-bcc3-115504839e4a/scratchpad/deck/icons/mail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5670652"/>
            <a:ext cx="372161" cy="372161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1508760" y="551383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loop: Günlük Sektör Bülteni</a:t>
            </a:r>
            <a:endParaRPr lang="en-US" sz="1250" dirty="0"/>
          </a:p>
        </p:txBody>
      </p:sp>
      <p:sp>
        <p:nvSpPr>
          <p:cNvPr id="41" name="Text 36"/>
          <p:cNvSpPr txBox="1"/>
          <p:nvPr/>
        </p:nvSpPr>
        <p:spPr>
          <a:xfrm>
            <a:off x="1508760" y="58064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bir premium özelliği (Story 9.3) sıfır ek geliştirme maliyetiyle bir edinim kanalına çevir: ücretsiz özet paylaş, tam raporu uygulama içine yönlendir.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pic>
        <p:nvPicPr>
          <p:cNvPr id="43" name="Image 3" descr="/private/tmp/claude-501/-Users-ulasbudak-Desktop-borsa-app/e78c8e07-ac03-4beb-bcc3-115504839e4a/scratchpad/deck/logo_mark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37376"/>
            <a:ext cx="173736" cy="173736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786384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BOROCEAN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PAZARLAMA FIKIRLERI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Düşük bütçe, yüksek etki — beş somut fikir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607040" cy="841248"/>
          </a:xfrm>
          <a:prstGeom prst="roundRect">
            <a:avLst>
              <a:gd name="adj" fmla="val 10870"/>
            </a:avLst>
          </a:prstGeom>
          <a:solidFill>
            <a:srgbClr val="121417"/>
          </a:solidFill>
          <a:ln w="12700">
            <a:solidFill>
              <a:srgbClr val="23262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83664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6" name="Image 0" descr="/private/tmp/claude-501/-Users-ulasbudak-Desktop-borsa-app/e78c8e07-ac03-4beb-bcc3-115504839e4a/scratchpad/deck/icons/vide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943100"/>
            <a:ext cx="338328" cy="338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89888" y="180136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video (Shorts/Reels)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251960" y="18013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“Aynı hisseye 3 görüş: kural, AI temel, AI teknik — hangisine güveniyorsun?”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006840" y="180136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Prod. maliyeti ~sıfır (ekran kaydı)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624328"/>
            <a:ext cx="10607040" cy="841248"/>
          </a:xfrm>
          <a:prstGeom prst="roundRect">
            <a:avLst>
              <a:gd name="adj" fmla="val 10870"/>
            </a:avLst>
          </a:prstGeom>
          <a:solidFill>
            <a:srgbClr val="121417"/>
          </a:solidFill>
          <a:ln w="12700">
            <a:solidFill>
              <a:srgbClr val="23262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49808" y="2816352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2" name="Image 1" descr="/private/tmp/claude-501/-Users-ulasbudak-Desktop-borsa-app/e78c8e07-ac03-4beb-bcc3-115504839e4a/scratchpad/deck/icons/hash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" y="2875788"/>
            <a:ext cx="338328" cy="33832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89888" y="273405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 X (Twitter)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4251960" y="2734056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Günün Verisi: her gün bir sektörün kamuya açık metrik özeti, linkle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734056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Otomatikleştirilebilir, düşük emek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48640" y="3557016"/>
            <a:ext cx="10607040" cy="841248"/>
          </a:xfrm>
          <a:prstGeom prst="roundRect">
            <a:avLst>
              <a:gd name="adj" fmla="val 10870"/>
            </a:avLst>
          </a:prstGeom>
          <a:solidFill>
            <a:srgbClr val="121417"/>
          </a:solidFill>
          <a:ln w="12700">
            <a:solidFill>
              <a:srgbClr val="23262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49808" y="37490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8" name="Image 2" descr="/private/tmp/claude-501/-Users-ulasbudak-Desktop-borsa-app/e78c8e07-ac03-4beb-bcc3-115504839e4a/scratchpad/deck/icons/user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3808476"/>
            <a:ext cx="338328" cy="33832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89888" y="366674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Topluluklar (Reddit/Discord/Ekşi)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4251960" y="3666744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Kurucu AMA'sı: “Aracı kurum değilim, tarafsızım” şeffaflık anlatısı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9006840" y="3666744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Sıfır bütçe, sadece zaman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48640" y="4489704"/>
            <a:ext cx="10607040" cy="841248"/>
          </a:xfrm>
          <a:prstGeom prst="roundRect">
            <a:avLst>
              <a:gd name="adj" fmla="val 10870"/>
            </a:avLst>
          </a:prstGeom>
          <a:solidFill>
            <a:srgbClr val="121417"/>
          </a:solidFill>
          <a:ln w="12700">
            <a:solidFill>
              <a:srgbClr val="23262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49808" y="4681728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4" name="Image 3" descr="/private/tmp/claude-501/-Users-ulasbudak-Desktop-borsa-app/e78c8e07-ac03-4beb-bcc3-115504839e4a/scratchpad/deck/icons/star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4741164"/>
            <a:ext cx="338328" cy="33832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389888" y="459943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Micro-influencer ortaklığı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4251960" y="4599432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100 kullanıcıya ücretsiz premium karşılığında dürüst inceleme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9006840" y="4599432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Marjinal maliyet ~sıfır (özellikler zaten ücretsiz)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548640" y="5422392"/>
            <a:ext cx="10607040" cy="841248"/>
          </a:xfrm>
          <a:prstGeom prst="roundRect">
            <a:avLst>
              <a:gd name="adj" fmla="val 10870"/>
            </a:avLst>
          </a:prstGeom>
          <a:solidFill>
            <a:srgbClr val="121417"/>
          </a:solidFill>
          <a:ln w="12700">
            <a:solidFill>
              <a:srgbClr val="23262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49808" y="5614416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30" name="Image 4" descr="/private/tmp/claude-501/-Users-ulasbudak-Desktop-borsa-app/e78c8e07-ac03-4beb-bcc3-115504839e4a/scratchpad/deck/icons/mail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" y="5673852"/>
            <a:ext cx="338328" cy="33832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389888" y="55321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 / içerik döngüsü</a:t>
            </a:r>
            <a:endParaRPr lang="en-US" sz="1150" dirty="0"/>
          </a:p>
        </p:txBody>
      </p:sp>
      <p:sp>
        <p:nvSpPr>
          <p:cNvPr id="32" name="Text 25"/>
          <p:cNvSpPr txBox="1"/>
          <p:nvPr/>
        </p:nvSpPr>
        <p:spPr>
          <a:xfrm>
            <a:off x="4251960" y="553212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Sektör Bülteni'nin ücretsiz özetini paylaş, tam raporu içeride göster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9006840" y="553212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olan altyapı, ek geliştirme yok</a:t>
            </a:r>
            <a:endParaRPr 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35" name="Image 5" descr="/private/tmp/claude-501/-Users-ulasbudak-Desktop-borsa-app/e78c8e07-ac03-4beb-bcc3-115504839e4a/scratchpad/deck/logo_mark_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437376"/>
            <a:ext cx="173736" cy="173736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86384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BOROCEAN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BAŞARI METRIKLERI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Kuzey Yıldızı: Haftalık Karar Destek Etkileşimi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607040" cy="1188720"/>
          </a:xfrm>
          <a:prstGeom prst="roundRect">
            <a:avLst>
              <a:gd name="adj" fmla="val 9231"/>
            </a:avLst>
          </a:prstGeom>
          <a:solidFill>
            <a:srgbClr val="1E212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47672"/>
            <a:ext cx="685800" cy="6858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6" name="Image 0" descr="/private/tmp/claude-501/-Users-ulasbudak-Desktop-borsa-app/e78c8e07-ac03-4beb-bcc3-115504839e4a/scratchpad/deck/icons/targe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114" y="2036826"/>
            <a:ext cx="507492" cy="5074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810512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başına haftalık tamamlanan karar-destek eylemi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194560"/>
            <a:ext cx="9235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(hisse detay incelemesi + tarama çalıştırma + alarm/izleme listesi eylemi toplamı)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GIRDI METRIKLERI (INPUT METRICS)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52044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21417"/>
          </a:solidFill>
          <a:ln w="12700">
            <a:solidFill>
              <a:srgbClr val="23262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559052" y="3721608"/>
            <a:ext cx="493776" cy="493776"/>
          </a:xfrm>
          <a:prstGeom prst="ellipse">
            <a:avLst/>
          </a:prstGeom>
          <a:solidFill>
            <a:srgbClr val="1E2126"/>
          </a:solidFill>
          <a:ln/>
        </p:spPr>
      </p:sp>
      <p:pic>
        <p:nvPicPr>
          <p:cNvPr id="12" name="Image 1" descr="/private/tmp/claude-501/-Users-ulasbudak-Desktop-borsa-app/e78c8e07-ac03-4beb-bcc3-115504839e4a/scratchpad/deck/icons/users-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243" y="3785799"/>
            <a:ext cx="365394" cy="36539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" y="429768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Haftalık Aktif Kullanıcı (WAU)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264408" y="352044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21417"/>
          </a:solidFill>
          <a:ln w="12700">
            <a:solidFill>
              <a:srgbClr val="23262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74820" y="3721608"/>
            <a:ext cx="493776" cy="493776"/>
          </a:xfrm>
          <a:prstGeom prst="ellipse">
            <a:avLst/>
          </a:prstGeom>
          <a:solidFill>
            <a:srgbClr val="1E2126"/>
          </a:solidFill>
          <a:ln/>
        </p:spPr>
      </p:sp>
      <p:pic>
        <p:nvPicPr>
          <p:cNvPr id="16" name="Image 2" descr="/private/tmp/claude-501/-Users-ulasbudak-Desktop-borsa-app/e78c8e07-ac03-4beb-bcc3-115504839e4a/scratchpad/deck/icons/eye-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011" y="3785799"/>
            <a:ext cx="365394" cy="36539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401568" y="429768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başına hisse detay görüntüleme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980176" y="352044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21417"/>
          </a:solidFill>
          <a:ln w="12700">
            <a:solidFill>
              <a:srgbClr val="23262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990588" y="3721608"/>
            <a:ext cx="493776" cy="493776"/>
          </a:xfrm>
          <a:prstGeom prst="ellipse">
            <a:avLst/>
          </a:prstGeom>
          <a:solidFill>
            <a:srgbClr val="1E2126"/>
          </a:solidFill>
          <a:ln/>
        </p:spPr>
      </p:sp>
      <p:pic>
        <p:nvPicPr>
          <p:cNvPr id="20" name="Image 3" descr="/private/tmp/claude-501/-Users-ulasbudak-Desktop-borsa-app/e78c8e07-ac03-4beb-bcc3-115504839e4a/scratchpad/deck/icons/briefcase-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779" y="3785799"/>
            <a:ext cx="365394" cy="36539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117336" y="429768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İzleme listesine eklenen hisse sayısı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8695944" y="352044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21417"/>
          </a:solidFill>
          <a:ln w="12700">
            <a:solidFill>
              <a:srgbClr val="23262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706356" y="3721608"/>
            <a:ext cx="493776" cy="493776"/>
          </a:xfrm>
          <a:prstGeom prst="ellipse">
            <a:avLst/>
          </a:prstGeom>
          <a:solidFill>
            <a:srgbClr val="1E2126"/>
          </a:solidFill>
          <a:ln/>
        </p:spPr>
      </p:sp>
      <p:pic>
        <p:nvPicPr>
          <p:cNvPr id="24" name="Image 4" descr="/private/tmp/claude-501/-Users-ulasbudak-Desktop-borsa-app/e78c8e07-ac03-4beb-bcc3-115504839e4a/scratchpad/deck/icons/dollarSign-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0547" y="3785799"/>
            <a:ext cx="365394" cy="36539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833104" y="429768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Ücretsiz → premium dönüşüm oranı</a:t>
            </a:r>
            <a:endParaRPr lang="en-US" sz="1050" dirty="0"/>
          </a:p>
        </p:txBody>
      </p:sp>
      <p:sp>
        <p:nvSpPr>
          <p:cNvPr id="26" name="Text 19"/>
          <p:cNvSpPr txBox="1"/>
          <p:nvPr/>
        </p:nvSpPr>
        <p:spPr>
          <a:xfrm>
            <a:off x="548640" y="5212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BAŞARI METRIKLERI (KARŞI-METRIKLERLE)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5532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 artışı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günlük kullanıcı elde tutma (retention) artışı</a:t>
            </a:r>
            <a:endParaRPr lang="en-US" sz="11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Karşı-metrik: destek/şikayet oranı ve veri doğruluğu şikayeti artmamalı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29" name="Image 5" descr="/private/tmp/claude-501/-Users-ulasbudak-Desktop-borsa-app/e78c8e07-ac03-4beb-bcc3-115504839e4a/scratchpad/deck/logo_mark_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437376"/>
            <a:ext cx="173736" cy="17373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86384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BOROCEAN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 &amp; YOL HARITASI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üretimde, AI katmanı sıradaki öncelik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66360" cy="4023360"/>
          </a:xfrm>
          <a:prstGeom prst="roundRect">
            <a:avLst>
              <a:gd name="adj" fmla="val 2727"/>
            </a:avLst>
          </a:prstGeom>
          <a:solidFill>
            <a:srgbClr val="1E2126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47672"/>
            <a:ext cx="502920" cy="50292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6" name="Image 0" descr="/private/tmp/claude-501/-Users-ulasbudak-Desktop-borsa-app/e78c8e07-ac03-4beb-bcc3-115504839e4a/scratchpad/deck/icons/checkCircle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2013052"/>
            <a:ext cx="372161" cy="3721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0299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— Canlı &amp; Üretimde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(Vercel) + API (Render) + ayrı prod Supabase — 2026-09-21'den beri canlı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1-8 tamamlandı: kimlik doğrulama, temel analiz, teknik analiz, tarama, izleme/alarm, portföy, kişiselleştirme, freemium altyapısı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 (iOS/Android) platformlarında özellik paritesi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35040" y="169164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1E212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0" y="1947672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1" name="Image 1" descr="/private/tmp/claude-501/-Users-ulasbudak-Desktop-borsa-app/e78c8e07-ac03-4beb-bcc3-115504839e4a/scratchpad/deck/icons/gitBranch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740" y="2013052"/>
            <a:ext cx="372161" cy="37216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95160" y="20299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Sıradaki — Faz 2 Önceliği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995160" y="2514600"/>
            <a:ext cx="3977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9 — AI destekli yorum: temel analiz (LLM+RAG) + teknik okuma (CV modeli) + günlük sektör bülteni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10 — Alım-satım simülasyonu (paper trading): sanal bütçe, gerçek piyasa fiyatından emir yürütme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Sonrasında: ML tabanlı örüntü tanıma, özelleştirilebilir skor ağırlıklandırma, tarama bildirimleri, gelişmiş kişiselleştirme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15" name="Image 2" descr="/private/tmp/claude-501/-Users-ulasbudak-Desktop-borsa-app/e78c8e07-ac03-4beb-bcc3-115504839e4a/scratchpad/deck/logo_mark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37376"/>
            <a:ext cx="173736" cy="17373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86384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BOROCEAN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ŞEFFAFLIK &amp; REGÜLASYON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Borocean bir aracı kurum değildir — ve bunu bilinçli tasarladık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607040" cy="1463040"/>
          </a:xfrm>
          <a:prstGeom prst="roundRect">
            <a:avLst>
              <a:gd name="adj" fmla="val 7500"/>
            </a:avLst>
          </a:prstGeom>
          <a:solidFill>
            <a:srgbClr val="1E2126"/>
          </a:solidFill>
          <a:ln w="12700">
            <a:solidFill>
              <a:srgbClr val="2E323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6" name="Image 0" descr="/private/tmp/claude-501/-Users-ulasbudak-Desktop-borsa-app/e78c8e07-ac03-4beb-bcc3-115504839e4a/scratchpad/deck/icons/shield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2037283"/>
            <a:ext cx="405994" cy="4059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745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konumu: araştırma &amp; karar destek — alım-satım emri iletmez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25856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ekranlarda “yatırım tavsiyesi değildir” ibaresi bulunur. AI/sinyal çıktıları kasıtlı olarak “örüntü/sinyal bulgusu” dilinde sunulur — “tavsiye” veya “trading stratejisi” olarak değil. Alım-satım simülasyonu tamamen sanal bütçeyle çalışır, hiçbir gerçek emir hiçbir aracı kuruma iletilmez.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383280"/>
            <a:ext cx="10607040" cy="1965960"/>
          </a:xfrm>
          <a:prstGeom prst="roundRect">
            <a:avLst>
              <a:gd name="adj" fmla="val 5581"/>
            </a:avLst>
          </a:prstGeom>
          <a:solidFill>
            <a:srgbClr val="1E212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6118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/private/tmp/claude-501/-Users-ulasbudak-Desktop-borsa-app/e78c8e07-ac03-4beb-bcc3-115504839e4a/scratchpad/deck/icons/alertTriangle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83" y="368320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352044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Uyum durumu — Eylül 2026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904488"/>
            <a:ext cx="9326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SPK rehberine göre kişiye yönelik al/sat/tut yönlendirmesi yatırım danışmanlığıdır. Borocean'da al/sat etiketi yoktur; AI raporları yalnızca kamuya açık veriyi analiz eder, kişisel öneri üretmez. KVKK aydınlatma metni ve uygulama içi hesap silme mevcuttur. Nihai hukuki görüş yine de alınmalıdır.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15" name="Image 2" descr="/private/tmp/claude-501/-Users-ulasbudak-Desktop-borsa-app/e78c8e07-ac03-4beb-bcc3-115504839e4a/scratchpad/deck/logo_mark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37376"/>
            <a:ext cx="173736" cy="17373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86384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BOROCEAN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7315200" cy="73152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3" name="Image 0" descr="/private/tmp/claude-501/-Users-ulasbudak-Desktop-borsa-app/e78c8e07-ac03-4beb-bcc3-115504839e4a/scratchpad/deck/logo_mark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777240" cy="777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8745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Birlikte büyütelim.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2697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kullanıcı davetleri, erken geri bildirim ve ortaklık/yatırım görüşmeleri için iletişime geçin.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3566160"/>
            <a:ext cx="5669280" cy="914400"/>
          </a:xfrm>
          <a:prstGeom prst="roundRect">
            <a:avLst>
              <a:gd name="adj" fmla="val 12000"/>
            </a:avLst>
          </a:prstGeom>
          <a:solidFill>
            <a:srgbClr val="1E2126"/>
          </a:solidFill>
          <a:ln w="12700">
            <a:solidFill>
              <a:srgbClr val="2E323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51560" y="3776472"/>
            <a:ext cx="493776" cy="493776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8" name="Image 1" descr="/private/tmp/claude-501/-Users-ulasbudak-Desktop-borsa-app/e78c8e07-ac03-4beb-bcc3-115504839e4a/scratchpad/deck/icons/mail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51" y="3840663"/>
            <a:ext cx="365394" cy="36539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3776472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serdarulasbudak@gmail.com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Borocean  ·  BIST + ABD hisse araştırma uygulaması  · 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2026-09-22T21:29:57Z</dcterms:created>
  <dcterms:modified xsi:type="dcterms:W3CDTF">2026-09-22T21:29:57Z</dcterms:modified>
</cp:coreProperties>
</file>